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87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41581-3AB8-4D15-A704-93AACEB68A14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54042-5CF9-4DEE-9389-A613F4CCE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497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54042-5CF9-4DEE-9389-A613F4CCEDE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51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ITSM DECISION SUPPORT PLATFORM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AI-Powered Incident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 dirty="0"/>
              <a:t>Operational Overview &amp; Platform Objectives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rPr dirty="0"/>
              <a:t>• Specialized ITSM decision support platform designed similarly to ServiceNow for standard ticket logging, routing, and lifecycle states (Open, Assigned, In Progress, Resolved, Closed).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rPr dirty="0"/>
              <a:t>• Engineered with superior, localized conversational analytics powered by an in-memory </a:t>
            </a:r>
            <a:r>
              <a:rPr dirty="0" err="1"/>
              <a:t>DuckDB</a:t>
            </a:r>
            <a:r>
              <a:rPr dirty="0"/>
              <a:t> query engine, bypassing the need for complex, latency-heavy ServiceNow reporting setups.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rPr dirty="0"/>
              <a:t>• Proactively intercepts ticket submission to alert operators of duplicate outages, preventing duplicate alerts from cluttering the queue.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rPr dirty="0"/>
              <a:t>• Generates automated root cause recommendations and L3 escalation risk analysis in a single click using fallback-equipped AI agents.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EE15D-8969-A6F9-4E52-63E821894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01" y="3796874"/>
            <a:ext cx="4938399" cy="2808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FF243A-7F2C-A882-4769-BE29F662E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836" y="3749040"/>
            <a:ext cx="4988283" cy="28517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TECHNICAL DATA FLOW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ITSM Ingestion Flow &amp; Custom Analytics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8163" y="2876549"/>
            <a:ext cx="11274552" cy="2803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System Architecture</a:t>
            </a:r>
          </a:p>
          <a:p>
            <a:r>
              <a:rPr lang="en-IN" dirty="0">
                <a:solidFill>
                  <a:schemeClr val="bg2"/>
                </a:solidFill>
              </a:rPr>
              <a:t>Incident Creation </a:t>
            </a:r>
          </a:p>
          <a:p>
            <a:r>
              <a:rPr lang="en-IN" dirty="0">
                <a:solidFill>
                  <a:schemeClr val="bg2"/>
                </a:solidFill>
              </a:rPr>
              <a:t>Duplicate Detection </a:t>
            </a:r>
          </a:p>
          <a:p>
            <a:r>
              <a:rPr lang="en-IN" dirty="0">
                <a:solidFill>
                  <a:schemeClr val="bg2"/>
                </a:solidFill>
              </a:rPr>
              <a:t>ML Prediction Engine </a:t>
            </a:r>
          </a:p>
          <a:p>
            <a:r>
              <a:rPr lang="en-IN" dirty="0">
                <a:solidFill>
                  <a:schemeClr val="bg2"/>
                </a:solidFill>
              </a:rPr>
              <a:t>PostgreSQL Database </a:t>
            </a:r>
          </a:p>
          <a:p>
            <a:r>
              <a:rPr lang="en-IN" dirty="0">
                <a:solidFill>
                  <a:schemeClr val="bg2"/>
                </a:solidFill>
              </a:rPr>
              <a:t>AI Analytics Dashboard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Arial"/>
              </a:defRPr>
            </a:pPr>
            <a:endParaRPr lang="en-US" dirty="0"/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rPr dirty="0"/>
              <a:t>• Core ITSM Pipeline (Row 1): Fresh tickets flow sequentially from ingestion UI, through normalized syntax mapping and duplicate checking (cosine similarity &gt;= 80%), directly into ML triage predictors (predicting group, priority, MTTR), and finally persist in the relational database.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rPr dirty="0"/>
              <a:t>• Custom Analytics Pipeline (Row 2): Completely decoupled from core ingestion. When a user runs a manual query or generates SQL, the engine reads data from the PostgreSQL/SQLite database to query it locally in-memory via </a:t>
            </a:r>
            <a:r>
              <a:rPr dirty="0" err="1"/>
              <a:t>DuckDB</a:t>
            </a:r>
            <a:r>
              <a:rPr dirty="0"/>
              <a:t>, feeding the formatted exports.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554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1. INGESTION UI</a:t>
            </a:r>
          </a:p>
          <a:p>
            <a:pPr algn="ctr">
              <a:spcBef>
                <a:spcPts val="3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Streamlit Form Modal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463040"/>
            <a:ext cx="15544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2. TEXT NORMALIZE</a:t>
            </a:r>
          </a:p>
          <a:p>
            <a:pPr algn="ctr">
              <a:spcBef>
                <a:spcPts val="3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Regex Synonyms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18288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3. DUPLICATE CHECK</a:t>
            </a:r>
          </a:p>
          <a:p>
            <a:pPr algn="ctr">
              <a:spcBef>
                <a:spcPts val="3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TF Cosine Sim &gt;= 80%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18288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4. ML PREDICTORS</a:t>
            </a:r>
          </a:p>
          <a:p>
            <a:pPr algn="ctr">
              <a:spcBef>
                <a:spcPts val="3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Random Forest / Ridge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463040"/>
            <a:ext cx="164592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5. LIVE DATABASE</a:t>
            </a:r>
          </a:p>
          <a:p>
            <a:pPr algn="ctr">
              <a:spcBef>
                <a:spcPts val="3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PostgreSQL / 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926080"/>
            <a:ext cx="219456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6. DUCKDB SQL ENGINE</a:t>
            </a:r>
          </a:p>
          <a:p>
            <a:pPr algn="ctr">
              <a:spcBef>
                <a:spcPts val="3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Read-Only SELECT 10k Capped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926080"/>
            <a:ext cx="164592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7. REPORT EXPORTERS</a:t>
            </a:r>
          </a:p>
          <a:p>
            <a:pPr algn="ctr">
              <a:spcBef>
                <a:spcPts val="3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Excel, PDF,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810512"/>
            <a:ext cx="36576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31920" y="1810512"/>
            <a:ext cx="36576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810512"/>
            <a:ext cx="36576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1810512"/>
            <a:ext cx="36576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509760" y="2194560"/>
            <a:ext cx="27432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0" y="2542032"/>
            <a:ext cx="301752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2560320"/>
            <a:ext cx="27432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20" y="3273552"/>
            <a:ext cx="109728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INGESTION ANALYSIS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Incident Triage &amp; Duplicate Warning Intercept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303520" cy="1661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Key Features</a:t>
            </a:r>
          </a:p>
          <a:p>
            <a:r>
              <a:rPr lang="en-IN" dirty="0">
                <a:solidFill>
                  <a:schemeClr val="bg2"/>
                </a:solidFill>
              </a:rPr>
              <a:t>AI-based Incident Assignment </a:t>
            </a:r>
          </a:p>
          <a:p>
            <a:r>
              <a:rPr lang="en-IN" dirty="0">
                <a:solidFill>
                  <a:schemeClr val="bg2"/>
                </a:solidFill>
              </a:rPr>
              <a:t>Priority Prediction </a:t>
            </a:r>
          </a:p>
          <a:p>
            <a:r>
              <a:rPr lang="en-IN" dirty="0">
                <a:solidFill>
                  <a:schemeClr val="bg2"/>
                </a:solidFill>
              </a:rPr>
              <a:t>Resolution Time Estimation </a:t>
            </a:r>
          </a:p>
          <a:p>
            <a:r>
              <a:rPr lang="en-IN" dirty="0">
                <a:solidFill>
                  <a:schemeClr val="bg2"/>
                </a:solidFill>
              </a:rPr>
              <a:t>Duplicate Ticket Detection </a:t>
            </a:r>
          </a:p>
          <a:p>
            <a:r>
              <a:rPr lang="en-IN" dirty="0">
                <a:solidFill>
                  <a:schemeClr val="bg2"/>
                </a:solidFill>
              </a:rPr>
              <a:t>SLA Monitoring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23932A-0318-4669-C9F7-F4DEE7245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528" y="1371600"/>
            <a:ext cx="6923172" cy="46291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FBF69E-E4E1-1D1D-1F92-27AED7D05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018" y="3216473"/>
            <a:ext cx="2113549" cy="32813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A21C1-31CA-8D06-339D-5F56B715E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319734-9FA5-349A-1FB5-917CCC23C83F}"/>
              </a:ext>
            </a:extLst>
          </p:cNvPr>
          <p:cNvSpPr txBox="1"/>
          <p:nvPr/>
        </p:nvSpPr>
        <p:spPr>
          <a:xfrm>
            <a:off x="457200" y="365760"/>
            <a:ext cx="112745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INGESTION ANALYSIS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Incident Triage &amp; Duplicate Warning Intercept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F6AE3-9641-3D86-668F-A871CBF198EC}"/>
              </a:ext>
            </a:extLst>
          </p:cNvPr>
          <p:cNvSpPr txBox="1"/>
          <p:nvPr/>
        </p:nvSpPr>
        <p:spPr>
          <a:xfrm>
            <a:off x="457200" y="1463040"/>
            <a:ext cx="5303520" cy="1661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AI Decision Support</a:t>
            </a:r>
          </a:p>
          <a:p>
            <a:r>
              <a:rPr lang="en-IN" dirty="0">
                <a:solidFill>
                  <a:schemeClr val="bg2"/>
                </a:solidFill>
              </a:rPr>
              <a:t>Root Cause Prediction </a:t>
            </a:r>
          </a:p>
          <a:p>
            <a:r>
              <a:rPr lang="en-IN" dirty="0">
                <a:solidFill>
                  <a:schemeClr val="bg2"/>
                </a:solidFill>
              </a:rPr>
              <a:t>L3 Escalation Advisor </a:t>
            </a:r>
          </a:p>
          <a:p>
            <a:r>
              <a:rPr lang="en-IN" dirty="0">
                <a:solidFill>
                  <a:schemeClr val="bg2"/>
                </a:solidFill>
              </a:rPr>
              <a:t>Historical Incident Search </a:t>
            </a:r>
          </a:p>
          <a:p>
            <a:r>
              <a:rPr lang="en-IN" dirty="0">
                <a:solidFill>
                  <a:schemeClr val="bg2"/>
                </a:solidFill>
              </a:rPr>
              <a:t>Investigation Recommendations </a:t>
            </a:r>
          </a:p>
          <a:p>
            <a:r>
              <a:rPr lang="en-IN" dirty="0">
                <a:solidFill>
                  <a:schemeClr val="bg2"/>
                </a:solidFill>
              </a:rPr>
              <a:t>Confidence Scores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D2CAD9-5852-DA64-F202-02EF0F94B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03" y="3472818"/>
            <a:ext cx="3516605" cy="2986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66F02E-1F5D-DD1B-143A-B134ECBEE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327" y="3615690"/>
            <a:ext cx="3078250" cy="28432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94EE63-B1C0-2CC9-79F1-E5B8423FB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041" y="2453640"/>
            <a:ext cx="3107358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59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BUSINESS INTELLIGENCE TRIAGE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Conversational SQL Analytics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29677"/>
            <a:ext cx="5303520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AI Custom Analytics</a:t>
            </a:r>
          </a:p>
          <a:p>
            <a:r>
              <a:rPr lang="en-IN" dirty="0">
                <a:solidFill>
                  <a:schemeClr val="bg2"/>
                </a:solidFill>
              </a:rPr>
              <a:t>Natural Language → SQL </a:t>
            </a:r>
          </a:p>
          <a:p>
            <a:r>
              <a:rPr lang="en-IN" dirty="0">
                <a:solidFill>
                  <a:schemeClr val="bg2"/>
                </a:solidFill>
              </a:rPr>
              <a:t>Manual SQL Editor </a:t>
            </a:r>
          </a:p>
          <a:p>
            <a:r>
              <a:rPr lang="en-IN" dirty="0">
                <a:solidFill>
                  <a:schemeClr val="bg2"/>
                </a:solidFill>
              </a:rPr>
              <a:t>Read-only Query Execution </a:t>
            </a:r>
          </a:p>
          <a:p>
            <a:r>
              <a:rPr lang="en-IN" dirty="0">
                <a:solidFill>
                  <a:schemeClr val="bg2"/>
                </a:solidFill>
              </a:rPr>
              <a:t>Automatic Charts </a:t>
            </a:r>
          </a:p>
          <a:p>
            <a:r>
              <a:rPr lang="en-IN" dirty="0">
                <a:solidFill>
                  <a:schemeClr val="bg2"/>
                </a:solidFill>
              </a:rPr>
              <a:t>Export to Excel, PDF and CSV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Arial"/>
              </a:defRPr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FBF269-69D7-BBD6-F66B-C0F0805FF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1" y="3238476"/>
            <a:ext cx="5052987" cy="3367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00CF90-8099-A0DF-BCFD-9EECF1D8F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238476"/>
            <a:ext cx="6030279" cy="33671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AC78FD-3B02-4E75-B90A-138DEDB717D4}"/>
              </a:ext>
            </a:extLst>
          </p:cNvPr>
          <p:cNvSpPr txBox="1"/>
          <p:nvPr/>
        </p:nvSpPr>
        <p:spPr>
          <a:xfrm>
            <a:off x="6905625" y="1144119"/>
            <a:ext cx="33623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Safe Query Execution</a:t>
            </a:r>
          </a:p>
          <a:p>
            <a:r>
              <a:rPr lang="en-IN" dirty="0">
                <a:solidFill>
                  <a:schemeClr val="bg2"/>
                </a:solidFill>
              </a:rPr>
              <a:t>Only SELECT queries allowed </a:t>
            </a:r>
          </a:p>
          <a:p>
            <a:r>
              <a:rPr lang="en-IN" dirty="0">
                <a:solidFill>
                  <a:schemeClr val="bg2"/>
                </a:solidFill>
              </a:rPr>
              <a:t>SQL validation before execution </a:t>
            </a:r>
          </a:p>
          <a:p>
            <a:r>
              <a:rPr lang="en-IN" dirty="0">
                <a:solidFill>
                  <a:schemeClr val="bg2"/>
                </a:solidFill>
              </a:rPr>
              <a:t>Blocks UPDATE, DELETE, DROP </a:t>
            </a:r>
          </a:p>
          <a:p>
            <a:r>
              <a:rPr lang="en-IN" dirty="0">
                <a:solidFill>
                  <a:schemeClr val="bg2"/>
                </a:solidFill>
              </a:rPr>
              <a:t>Prevents system table access </a:t>
            </a:r>
          </a:p>
          <a:p>
            <a:r>
              <a:rPr lang="en-IN" dirty="0">
                <a:solidFill>
                  <a:schemeClr val="bg2"/>
                </a:solidFill>
              </a:rPr>
              <a:t>Result limit of 10,000 rows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OPERATIONS ANALYSIS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Query Results Summaries &amp; Dynamic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303520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Analytics Output</a:t>
            </a:r>
          </a:p>
          <a:p>
            <a:r>
              <a:rPr lang="en-IN" dirty="0">
                <a:solidFill>
                  <a:schemeClr val="bg2"/>
                </a:solidFill>
              </a:rPr>
              <a:t>Interactive Tables </a:t>
            </a:r>
          </a:p>
          <a:p>
            <a:r>
              <a:rPr lang="en-IN" dirty="0">
                <a:solidFill>
                  <a:schemeClr val="bg2"/>
                </a:solidFill>
              </a:rPr>
              <a:t>Executive Summary </a:t>
            </a:r>
          </a:p>
          <a:p>
            <a:r>
              <a:rPr lang="en-IN" dirty="0">
                <a:solidFill>
                  <a:schemeClr val="bg2"/>
                </a:solidFill>
              </a:rPr>
              <a:t>Automatic Charts </a:t>
            </a:r>
          </a:p>
          <a:p>
            <a:r>
              <a:rPr lang="en-IN" dirty="0">
                <a:solidFill>
                  <a:schemeClr val="bg2"/>
                </a:solidFill>
              </a:rPr>
              <a:t>Excel Export </a:t>
            </a:r>
          </a:p>
          <a:p>
            <a:r>
              <a:rPr lang="en-IN" dirty="0">
                <a:solidFill>
                  <a:schemeClr val="bg2"/>
                </a:solidFill>
              </a:rPr>
              <a:t>PDF Report Generation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Arial"/>
              </a:defRPr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57E8F9-E711-F608-7671-6AD43BB92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99048"/>
            <a:ext cx="4482049" cy="29017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62AB1C-29C6-8ADE-F396-F504A6FF7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262" y="945554"/>
            <a:ext cx="4065257" cy="2973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806F46-4839-36B5-571D-1AC11A584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213" y="4101443"/>
            <a:ext cx="6667539" cy="23907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REPORTING COMPILER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Excel Data Exporter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303520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Output format</a:t>
            </a:r>
          </a:p>
          <a:p>
            <a:endParaRPr lang="en-IN" b="1" dirty="0">
              <a:solidFill>
                <a:schemeClr val="bg2"/>
              </a:solidFill>
            </a:endParaRPr>
          </a:p>
          <a:p>
            <a:r>
              <a:rPr lang="en-IN" dirty="0">
                <a:solidFill>
                  <a:schemeClr val="bg2"/>
                </a:solidFill>
              </a:rPr>
              <a:t>Excel sheet</a:t>
            </a:r>
          </a:p>
          <a:p>
            <a:r>
              <a:rPr lang="en-IN" dirty="0">
                <a:solidFill>
                  <a:schemeClr val="bg2"/>
                </a:solidFill>
              </a:rPr>
              <a:t>Pdf</a:t>
            </a:r>
          </a:p>
          <a:p>
            <a:r>
              <a:rPr lang="en-IN" dirty="0">
                <a:solidFill>
                  <a:schemeClr val="bg2"/>
                </a:solidFill>
              </a:rPr>
              <a:t>CSV file</a:t>
            </a:r>
          </a:p>
          <a:p>
            <a:r>
              <a:rPr lang="en-IN" dirty="0">
                <a:solidFill>
                  <a:schemeClr val="bg2"/>
                </a:solidFill>
              </a:rPr>
              <a:t>Rows rendered on screen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Arial"/>
              </a:defRPr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BE0EFA-F899-2CAE-4AB6-7BF62D2B6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1455657"/>
            <a:ext cx="5797677" cy="38909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DB1DE8-B115-7C9E-43FA-9FE8566F5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98" y="3401139"/>
            <a:ext cx="5797678" cy="3281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INFRASTRUCTURE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DevOps Deployment &amp; Relational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303520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Deployment Architecture</a:t>
            </a:r>
          </a:p>
          <a:p>
            <a:r>
              <a:rPr lang="en-IN" dirty="0">
                <a:solidFill>
                  <a:schemeClr val="bg2"/>
                </a:solidFill>
              </a:rPr>
              <a:t>Docker Container </a:t>
            </a:r>
          </a:p>
          <a:p>
            <a:r>
              <a:rPr lang="en-IN" dirty="0">
                <a:solidFill>
                  <a:schemeClr val="bg2"/>
                </a:solidFill>
              </a:rPr>
              <a:t>Azure App Service </a:t>
            </a:r>
          </a:p>
          <a:p>
            <a:r>
              <a:rPr lang="en-IN" dirty="0">
                <a:solidFill>
                  <a:schemeClr val="bg2"/>
                </a:solidFill>
              </a:rPr>
              <a:t>Azure Container Registry </a:t>
            </a:r>
          </a:p>
          <a:p>
            <a:r>
              <a:rPr lang="en-IN" dirty="0">
                <a:solidFill>
                  <a:schemeClr val="bg2"/>
                </a:solidFill>
              </a:rPr>
              <a:t>Azure PostgreSQL </a:t>
            </a:r>
          </a:p>
          <a:p>
            <a:r>
              <a:rPr lang="en-IN" dirty="0">
                <a:solidFill>
                  <a:schemeClr val="bg2"/>
                </a:solidFill>
              </a:rPr>
              <a:t>Azure Blob Storage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Arial"/>
              </a:defRPr>
            </a:pPr>
            <a:endParaRPr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0C7401-BBA1-0579-C77F-147F3FDE2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687" y="1463040"/>
            <a:ext cx="6033100" cy="37255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PLATFORM PERFORMANCE PROS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Business Impact &amp; Key Operational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0525" y="1015365"/>
            <a:ext cx="5303520" cy="38779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400" b="1" dirty="0">
                <a:solidFill>
                  <a:schemeClr val="bg2"/>
                </a:solidFill>
              </a:rPr>
              <a:t>Business Impact &amp; Key Operational Advantages</a:t>
            </a:r>
          </a:p>
          <a:p>
            <a:r>
              <a:rPr lang="en-IN" sz="1400" b="1" dirty="0">
                <a:solidFill>
                  <a:schemeClr val="bg2"/>
                </a:solidFill>
              </a:rPr>
              <a:t>Key Platform Advantages</a:t>
            </a:r>
          </a:p>
          <a:p>
            <a:r>
              <a:rPr lang="en-IN" sz="1400" b="1" dirty="0">
                <a:solidFill>
                  <a:schemeClr val="bg2"/>
                </a:solidFill>
              </a:rPr>
              <a:t>AI-Assisted Incident Management</a:t>
            </a:r>
            <a:r>
              <a:rPr lang="en-IN" sz="1400" dirty="0">
                <a:solidFill>
                  <a:schemeClr val="bg2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Automates incident routing, priority prediction, root cause analysis, and L3 escalation recommendations. </a:t>
            </a:r>
          </a:p>
          <a:p>
            <a:r>
              <a:rPr lang="en-IN" sz="1400" b="1" dirty="0">
                <a:solidFill>
                  <a:schemeClr val="bg2"/>
                </a:solidFill>
              </a:rPr>
              <a:t>Faster Decision Making</a:t>
            </a:r>
            <a:r>
              <a:rPr lang="en-IN" sz="1400" dirty="0">
                <a:solidFill>
                  <a:schemeClr val="bg2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Provides historical incident matching, intelligent recommendations, and real-time operational insights. </a:t>
            </a:r>
          </a:p>
          <a:p>
            <a:r>
              <a:rPr lang="en-IN" sz="1400" b="1" dirty="0">
                <a:solidFill>
                  <a:schemeClr val="bg2"/>
                </a:solidFill>
              </a:rPr>
              <a:t>Self-Service Analytics</a:t>
            </a:r>
            <a:r>
              <a:rPr lang="en-IN" sz="1400" dirty="0">
                <a:solidFill>
                  <a:schemeClr val="bg2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Enables natural language queries that are automatically converted into SQL for instant reporting. </a:t>
            </a:r>
          </a:p>
          <a:p>
            <a:r>
              <a:rPr lang="en-IN" sz="1400" b="1" dirty="0">
                <a:solidFill>
                  <a:schemeClr val="bg2"/>
                </a:solidFill>
              </a:rPr>
              <a:t>Secure &amp; Controlled Analytics</a:t>
            </a:r>
            <a:r>
              <a:rPr lang="en-IN" sz="1400" dirty="0">
                <a:solidFill>
                  <a:schemeClr val="bg2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Read-only SQL execution with validation prevents unsafe database operations. </a:t>
            </a:r>
          </a:p>
          <a:p>
            <a:r>
              <a:rPr lang="en-IN" sz="1400" b="1" dirty="0">
                <a:solidFill>
                  <a:schemeClr val="bg2"/>
                </a:solidFill>
              </a:rPr>
              <a:t>Cloud-Native Deployment</a:t>
            </a:r>
            <a:r>
              <a:rPr lang="en-IN" sz="1400" dirty="0">
                <a:solidFill>
                  <a:schemeClr val="bg2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Containerized using Docker and deployed on Microsoft Azure for scalable and reliable operation. 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endParaRPr sz="1400" dirty="0">
              <a:solidFill>
                <a:schemeClr val="bg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0" y="1015365"/>
            <a:ext cx="5669280" cy="36625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400" b="1" dirty="0">
                <a:solidFill>
                  <a:schemeClr val="bg2"/>
                </a:solidFill>
              </a:rPr>
              <a:t>Business Value</a:t>
            </a:r>
          </a:p>
          <a:p>
            <a:r>
              <a:rPr lang="en-IN" sz="1400" b="1" dirty="0">
                <a:solidFill>
                  <a:schemeClr val="bg2"/>
                </a:solidFill>
              </a:rPr>
              <a:t>Reduced Mean Time to Resolution (MTTR)</a:t>
            </a:r>
            <a:r>
              <a:rPr lang="en-IN" sz="1400" dirty="0">
                <a:solidFill>
                  <a:schemeClr val="bg2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AI recommendations help engineers identify likely causes and resolution paths more quickly. </a:t>
            </a:r>
          </a:p>
          <a:p>
            <a:r>
              <a:rPr lang="en-IN" sz="1400" b="1" dirty="0">
                <a:solidFill>
                  <a:schemeClr val="bg2"/>
                </a:solidFill>
              </a:rPr>
              <a:t>Improved SLA Compliance</a:t>
            </a:r>
            <a:r>
              <a:rPr lang="en-IN" sz="1400" dirty="0">
                <a:solidFill>
                  <a:schemeClr val="bg2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Continuous SLA tracking, escalation guidance, and priority prediction reduce the risk of SLA breaches. </a:t>
            </a:r>
          </a:p>
          <a:p>
            <a:r>
              <a:rPr lang="en-IN" sz="1400" b="1" dirty="0">
                <a:solidFill>
                  <a:schemeClr val="bg2"/>
                </a:solidFill>
              </a:rPr>
              <a:t>Higher Operational Efficiency</a:t>
            </a:r>
            <a:r>
              <a:rPr lang="en-IN" sz="1400" dirty="0">
                <a:solidFill>
                  <a:schemeClr val="bg2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Automates repetitive ITSM activities, allowing support teams to focus on critical incidents. </a:t>
            </a:r>
          </a:p>
          <a:p>
            <a:r>
              <a:rPr lang="en-IN" sz="1400" b="1" dirty="0">
                <a:solidFill>
                  <a:schemeClr val="bg2"/>
                </a:solidFill>
              </a:rPr>
              <a:t>Actionable Operational Insights</a:t>
            </a:r>
            <a:r>
              <a:rPr lang="en-IN" sz="1400" dirty="0">
                <a:solidFill>
                  <a:schemeClr val="bg2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Interactive dashboards and custom analytics support data-driven operational decisions. </a:t>
            </a:r>
          </a:p>
          <a:p>
            <a:r>
              <a:rPr lang="en-IN" sz="1400" b="1" dirty="0">
                <a:solidFill>
                  <a:schemeClr val="bg2"/>
                </a:solidFill>
              </a:rPr>
              <a:t>Enterprise Ready</a:t>
            </a:r>
            <a:r>
              <a:rPr lang="en-IN" sz="1400" dirty="0">
                <a:solidFill>
                  <a:schemeClr val="bg2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Supports secure cloud deployment, centralized data storage, AI-powered reporting, and downloadable business reports.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endParaRPr sz="1400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BD2A3-E94A-F8F9-3A8B-0C1ED718914F}"/>
              </a:ext>
            </a:extLst>
          </p:cNvPr>
          <p:cNvSpPr txBox="1"/>
          <p:nvPr/>
        </p:nvSpPr>
        <p:spPr>
          <a:xfrm>
            <a:off x="274320" y="5033963"/>
            <a:ext cx="108394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2"/>
                </a:solidFill>
              </a:rPr>
              <a:t>ITSM Platform with Advanced AI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Complete incident management workflow similar to enterprise ITSM platforms such as ServiceNow.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Native AI capabilities for intelligent triage, RCA, L3 escalation, and duplicate detection.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Conversational analytics using Natural Language → SQL for self-service reporting.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Interactive dashboards with Excel, PDF, and CSV exports for business insights.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2"/>
                </a:solidFill>
              </a:rPr>
              <a:t>Designed for faster operational decisions through machine learning and historical incident intelligence.</a:t>
            </a:r>
          </a:p>
          <a:p>
            <a:endParaRPr lang="en-IN" sz="1400" dirty="0">
              <a:solidFill>
                <a:schemeClr val="bg2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E328B5-C82B-5607-CE34-F09712D80352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694045" y="942975"/>
            <a:ext cx="0" cy="40909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717</Words>
  <Application>Microsoft Office PowerPoint</Application>
  <PresentationFormat>Widescreen</PresentationFormat>
  <Paragraphs>118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Dishan Sarkar(BTECH10614.23@bitmesra.ac.in)</cp:lastModifiedBy>
  <cp:revision>3</cp:revision>
  <dcterms:created xsi:type="dcterms:W3CDTF">2013-01-27T09:14:16Z</dcterms:created>
  <dcterms:modified xsi:type="dcterms:W3CDTF">2026-07-08T21:31:07Z</dcterms:modified>
  <cp:category/>
</cp:coreProperties>
</file>